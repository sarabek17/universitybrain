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20240"/>
            <a:ext cx="960120" cy="6858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>
                <a:solidFill>
                  <a:srgbClr val="FFFFFF"/>
                </a:solidFill>
                <a:latin typeface="Calibri"/>
              </a:rPr>
              <a:t>UniAgent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56432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9DB0DC"/>
                </a:solidFill>
                <a:latin typeface="Calibri"/>
              </a:rPr>
              <a:t>Universitetning kundalik ishi — bitta AI ish maydonida.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5020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5B8CFF"/>
                </a:solidFill>
                <a:latin typeface="Calibri"/>
              </a:rPr>
              <a:t>Har rol o‘z doirasida. Har javob manba bilan.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74920"/>
            <a:ext cx="4846320" cy="566928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 w="12700">
            <a:solidFill>
              <a:srgbClr val="2A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DB0DC"/>
                </a:solidFill>
                <a:latin typeface="Calibri"/>
              </a:rPr>
              <a:t>NEXUS30 · EdTech treki · hamkor: Yandex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2" y="52303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D7EAC"/>
                </a:solidFill>
                <a:latin typeface="Calibri"/>
              </a:rPr>
              <a:t>Mannonov Sarabek · Avgust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5B8CFF"/>
                </a:solidFill>
                <a:latin typeface="Calibri"/>
              </a:rPr>
              <a:t>01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O‘zbekiston oliy ta’limi 10 yilda olti barobar kengaydi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08792" cy="1481328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Calibri"/>
              </a:rPr>
              <a:t>1.5 mln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0299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talaba — 2025/26 o‘quv yilida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487168"/>
            <a:ext cx="6949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DB0DC"/>
                </a:solidFill>
                <a:latin typeface="Calibri"/>
              </a:rPr>
              <a:t>2015/16 da 264 ming edi. Har biri kundalik savoli, hujjati va arizasi bilan universitetga murojaat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3502152" cy="16916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749039"/>
            <a:ext cx="146304" cy="146304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050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208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988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5B8CFF"/>
                </a:solidFill>
                <a:latin typeface="Calibri"/>
              </a:rPr>
              <a:t>OTM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7316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DB0DC"/>
                </a:solidFill>
                <a:latin typeface="Calibri"/>
              </a:rPr>
              <a:t>108 davlat · 70 nodavlat · 30 xorijiy filial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474720"/>
            <a:ext cx="3502152" cy="16916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3749039"/>
            <a:ext cx="146304" cy="14630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0050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47.7%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4988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FD4A8"/>
                </a:solidFill>
                <a:latin typeface="Calibri"/>
              </a:rPr>
              <a:t>Qamrov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77316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DB0DC"/>
                </a:solidFill>
                <a:latin typeface="Calibri"/>
              </a:rPr>
              <a:t>18–23 yosh qamrovi — 2014 yilda 6.8% edi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474720"/>
            <a:ext cx="3502152" cy="16916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199" y="3749039"/>
            <a:ext cx="146304" cy="146304"/>
          </a:xfrm>
          <a:prstGeom prst="rect">
            <a:avLst/>
          </a:prstGeom>
          <a:solidFill>
            <a:srgbClr val="FFC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40050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HEMIS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44988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C24B"/>
                </a:solidFill>
                <a:latin typeface="Calibri"/>
              </a:rPr>
              <a:t>Yagona tizim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477316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DB0DC"/>
                </a:solidFill>
                <a:latin typeface="Calibri"/>
              </a:rPr>
              <a:t>2021/22 dan barcha OTM uchun majburiy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9DB0DC"/>
                </a:solidFill>
                <a:latin typeface="Calibri"/>
              </a:rPr>
              <a:t>Rasmiy keys: </a:t>
            </a:r>
            <a:r>
              <a:rPr sz="1300" b="0">
                <a:solidFill>
                  <a:srgbClr val="FFFFFF"/>
                </a:solidFill>
                <a:latin typeface="Calibri"/>
              </a:rPr>
              <a:t>«…ma’lumotlarni izlash, uzun hujjatlarni o‘rganish, asosiy mazmunni ajratib olish… ko‘p vaqt talab qilishi mumkin.»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D7EAC"/>
                </a:solidFill>
                <a:latin typeface="Calibri"/>
              </a:rPr>
              <a:t>Manba: Milliy statistika qo‘mitasi (stat.uz, 2025) · Oliy ta’lim, fan va innovatsiyalar vazirligi (2025) · NEXUS30 EdTech keysi, 3-bo‘lim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FF6B6B"/>
                </a:solidFill>
                <a:latin typeface="Calibri"/>
              </a:rPr>
              <a:t>02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22960"/>
            <a:ext cx="10908792" cy="1691640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6B6B"/>
                </a:solidFill>
                <a:latin typeface="Calibri"/>
              </a:rPr>
              <a:t>4 manba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170432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bitta oddiy savolga javob topish uchun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664208"/>
            <a:ext cx="7040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DB0DC"/>
                </a:solidFill>
                <a:latin typeface="Calibri"/>
              </a:rPr>
              <a:t>E’lonlar guruhi · dekanat koridori · qog‘oz nizom · kurator telefoni.
Ma’lumot bor — lekin tarqoq va rolga bo‘linmagan.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6D7EAC"/>
                </a:solidFill>
                <a:latin typeface="Calibri"/>
              </a:rPr>
              <a:t>NIMA TO‘SQINLIK QILADI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3502152" cy="210312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88620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050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B102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177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Qidiruv vaqti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834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Javob hujjatda bor — lekin qaysi bandda, qaysi tilda, qaysi versiyada?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474720"/>
            <a:ext cx="3502152" cy="210312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0" y="3886200"/>
            <a:ext cx="502920" cy="502920"/>
          </a:xfrm>
          <a:prstGeom prst="ellipse">
            <a:avLst/>
          </a:prstGeom>
          <a:solidFill>
            <a:srgbClr val="FFC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0050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B102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6177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Takroriy savollar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9834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«Qancha qoldi», «arizam qayerda», «o‘qituvchi keldimi» — kuniga o‘nlab marta.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474720"/>
            <a:ext cx="3502152" cy="210312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58199" y="3886200"/>
            <a:ext cx="502920" cy="50292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40050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B102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46177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Rol chegarasi yo‘q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49834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Yo hammaga hamma narsa ochiq, yo hech kimga hech narsa.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D7EAC"/>
                </a:solidFill>
                <a:latin typeface="Calibri"/>
              </a:rPr>
              <a:t>Muammo ta’rifi: NEXUS30 EdTech keysi (hamkor: Yandex), 3-bo‘lim «Muammo tavsifi»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2FD4A8"/>
                </a:solidFill>
                <a:latin typeface="Calibri"/>
              </a:rPr>
              <a:t>03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Bitta agent, besh rakurs — har javob manba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02152" cy="26060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2103120"/>
            <a:ext cx="146304" cy="14630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Rol-asosli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4436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Savol → hujjat bo‘lagi → manba chipi. Agent javobni o‘ylab topmaydi.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→ Qidiruv vaqti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02152" cy="26060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103120"/>
            <a:ext cx="146304" cy="14630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39572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10 vosita (tool calling)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4436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Kontrakt qoldig‘i, turniket, ariza statusi — jonli bazadan, bitta savolda.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C24B"/>
                </a:solidFill>
                <a:latin typeface="Calibri"/>
              </a:rPr>
              <a:t>→ Takroriy savollar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502152" cy="26060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199" y="2103120"/>
            <a:ext cx="146304" cy="14630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239572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Cheklov backendda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294436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Rol mos kelmasa vosita handleri umuman chaqirilmaydi — promptda emas, serverda.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39319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8CFF"/>
                </a:solidFill>
                <a:latin typeface="Calibri"/>
              </a:rPr>
              <a:t>→ Rol chegarasi yo‘q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63440"/>
            <a:ext cx="10908792" cy="1005840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646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2FD4A8"/>
                </a:solidFill>
                <a:latin typeface="Calibri"/>
              </a:rPr>
              <a:t>25 soniya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3776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DB0DC"/>
                </a:solidFill>
                <a:latin typeface="Calibri"/>
              </a:rPr>
              <a:t>butun demo ssenariysi — o‘lchangan sof tizim vaqti: 18 qadam, 5 rol, konsolda nol xato.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5B8CFF"/>
                </a:solidFill>
                <a:latin typeface="Calibri"/>
              </a:rPr>
              <a:t>04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Savol → vosita → manba → javob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19756" cy="91440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0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8C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Savol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DB0DC"/>
                </a:solidFill>
                <a:latin typeface="Calibri"/>
              </a:rPr>
              <a:t>Foydalanuvchi o‘z roli bilan kiradi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6140" y="1554480"/>
            <a:ext cx="2619756" cy="91440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0460" y="1700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8C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508" y="1682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Vosita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046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DB0DC"/>
                </a:solidFill>
                <a:latin typeface="Calibri"/>
              </a:rPr>
              <a:t>Registr ruxsatni serverda tekshiradi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2619756" cy="91440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00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8C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682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Manba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DB0DC"/>
                </a:solidFill>
                <a:latin typeface="Calibri"/>
              </a:rPr>
              <a:t>Hujjat + bo‘lim yoki turniket logi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8260" y="1554480"/>
            <a:ext cx="2619756" cy="91440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2580" y="1700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8C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628" y="1682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Javob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258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DB0DC"/>
                </a:solidFill>
                <a:latin typeface="Calibri"/>
              </a:rPr>
              <a:t>Faqat vosita natijasidan, disclaimer bilan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267004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100">
                <a:solidFill>
                  <a:srgbClr val="6D7EAC"/>
                </a:solidFill>
                <a:latin typeface="Calibri"/>
              </a:rPr>
              <a:t>TALABA · manba chiplari va disclaimer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67004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100">
                <a:solidFill>
                  <a:srgbClr val="6D7EAC"/>
                </a:solidFill>
                <a:latin typeface="Calibri"/>
              </a:rPr>
              <a:t>DEKANAT · «dars xavf ostida» — hisoblangan holat</a:t>
            </a:r>
          </a:p>
        </p:txBody>
      </p:sp>
      <p:pic>
        <p:nvPicPr>
          <p:cNvPr id="23" name="Picture 22" descr="01_chat_talaba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33856" y="2944368"/>
            <a:ext cx="4754880" cy="2971800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1133856" y="2944368"/>
            <a:ext cx="4754880" cy="2971800"/>
          </a:xfrm>
          <a:prstGeom prst="rect">
            <a:avLst/>
          </a:prstGeom>
          <a:noFill/>
          <a:ln w="12700">
            <a:solidFill>
              <a:srgbClr val="2A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2_dekanat_oqituvchila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0216" y="2944368"/>
            <a:ext cx="4754880" cy="2971800"/>
          </a:xfrm>
          <a:prstGeom prst="rect">
            <a:avLst/>
          </a:prstGeom>
          <a:effectLst/>
        </p:spPr>
      </p:pic>
      <p:sp>
        <p:nvSpPr>
          <p:cNvPr id="26" name="Rectangle 25"/>
          <p:cNvSpPr/>
          <p:nvPr/>
        </p:nvSpPr>
        <p:spPr>
          <a:xfrm>
            <a:off x="6300216" y="2944368"/>
            <a:ext cx="4754880" cy="2971800"/>
          </a:xfrm>
          <a:prstGeom prst="rect">
            <a:avLst/>
          </a:prstGeom>
          <a:noFill/>
          <a:ln w="12700">
            <a:solidFill>
              <a:srgbClr val="2A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FFC24B"/>
                </a:solidFill>
                <a:latin typeface="Calibri"/>
              </a:rPr>
              <a:t>05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Uch shart bir vaqtda bajarildi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02152" cy="28346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C24B"/>
                </a:solidFill>
                <a:latin typeface="Calibri"/>
              </a:rPr>
              <a:t>280×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LLM arzonlashdi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1012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Bir xil sifatdagi so‘rov narxi 2022-11 dan 2024-10 gacha shuncha tushdi.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D7EAC"/>
                </a:solidFill>
                <a:latin typeface="Calibri"/>
              </a:rPr>
              <a:t>Stanford HAI, AI Index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02152" cy="28346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574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2FD4A8"/>
                </a:solidFill>
                <a:latin typeface="Calibri"/>
              </a:rPr>
              <a:t>5.8×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Foydalanuvchi ko‘paydi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1012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Talaba soni 10 yilda: 264 ming → 1.5 mln. Xodim soni bunchalik o‘smadi.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062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D7EAC"/>
                </a:solidFill>
                <a:latin typeface="Calibri"/>
              </a:rPr>
              <a:t>Milliy statistika qo‘mitasi,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502152" cy="28346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199" y="20574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5B8CFF"/>
                </a:solidFill>
                <a:latin typeface="Calibri"/>
              </a:rPr>
              <a:t>208/208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9" y="2926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Ma’lumot raqamli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331012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Barcha OTM HEMIS’da — integratsiya har universitet uchun emas, bir marta.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42062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D7EAC"/>
                </a:solidFill>
                <a:latin typeface="Calibri"/>
              </a:rPr>
              <a:t>VM 610-son (2020), 913-son (2024)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92040"/>
            <a:ext cx="10908792" cy="777240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0235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Model arzon, foydalanuvchi ko‘p, ma’lumot allaqachon raqamli — uchtasi ham ikki yil oldin yo‘q edi.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5B8CFF"/>
                </a:solidFill>
                <a:latin typeface="Calibri"/>
              </a:rPr>
              <a:t>06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USE-CASE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Koridor o‘rniga bitta ekran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49240" cy="3977639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140">
                <a:solidFill>
                  <a:srgbClr val="5B8CFF"/>
                </a:solidFill>
                <a:latin typeface="Calibri"/>
              </a:rPr>
              <a:t>TALABA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«Arizam qayerda?»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Bugun: </a:t>
            </a:r>
            <a:r>
              <a:rPr sz="1200" b="0">
                <a:solidFill>
                  <a:srgbClr val="9DB0DC"/>
                </a:solidFill>
                <a:latin typeface="Calibri"/>
              </a:rPr>
              <a:t>dekanatga bor, navbatda tur, «ertaga kel».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FD4A8"/>
                </a:solidFill>
                <a:latin typeface="Calibri"/>
              </a:rPr>
              <a:t>UniAgent: </a:t>
            </a:r>
            <a:r>
              <a:rPr sz="1200" b="0">
                <a:solidFill>
                  <a:srgbClr val="9DB0DC"/>
                </a:solidFill>
                <a:latin typeface="Calibri"/>
              </a:rPr>
              <a:t>status va kim/qachon tarixi — bitta ekranda.</a:t>
            </a:r>
          </a:p>
        </p:txBody>
      </p:sp>
      <p:pic>
        <p:nvPicPr>
          <p:cNvPr id="10" name="Picture 9" descr="04_talaba_arizalar.png"/>
          <p:cNvPicPr>
            <a:picLocks noChangeAspect="1"/>
          </p:cNvPicPr>
          <p:nvPr/>
        </p:nvPicPr>
        <p:blipFill>
          <a:blip r:embed="rId2"/>
          <a:srcRect b="40000"/>
          <a:stretch>
            <a:fillRect/>
          </a:stretch>
        </p:blipFill>
        <p:spPr>
          <a:xfrm>
            <a:off x="1005840" y="3200400"/>
            <a:ext cx="4617720" cy="1731645"/>
          </a:xfrm>
          <a:prstGeom prst="rect">
            <a:avLst/>
          </a:prstGeom>
          <a:effectLst/>
        </p:spPr>
      </p:pic>
      <p:sp>
        <p:nvSpPr>
          <p:cNvPr id="11" name="Rectangle 10"/>
          <p:cNvSpPr/>
          <p:nvPr/>
        </p:nvSpPr>
        <p:spPr>
          <a:xfrm>
            <a:off x="1005840" y="3200400"/>
            <a:ext cx="4617720" cy="1731645"/>
          </a:xfrm>
          <a:prstGeom prst="rect">
            <a:avLst/>
          </a:prstGeom>
          <a:noFill/>
          <a:ln w="12700">
            <a:solidFill>
              <a:srgbClr val="2A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508760"/>
            <a:ext cx="5349240" cy="3977639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71907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140">
                <a:solidFill>
                  <a:srgbClr val="5B8CFF"/>
                </a:solidFill>
                <a:latin typeface="Calibri"/>
              </a:rPr>
              <a:t>TYUTOR / DEKANAT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9933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«Kim qarzdor, kim kelmadi?»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45059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Bugun: </a:t>
            </a:r>
            <a:r>
              <a:rPr sz="1200" b="0">
                <a:solidFill>
                  <a:srgbClr val="9DB0DC"/>
                </a:solidFill>
                <a:latin typeface="Calibri"/>
              </a:rPr>
              <a:t>ro‘yxatni qo‘lda yig‘, muammoni kechqurun bil.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761488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FD4A8"/>
                </a:solidFill>
                <a:latin typeface="Calibri"/>
              </a:rPr>
              <a:t>UniAgent: </a:t>
            </a:r>
            <a:r>
              <a:rPr sz="1200" b="0">
                <a:solidFill>
                  <a:srgbClr val="9DB0DC"/>
                </a:solidFill>
                <a:latin typeface="Calibri"/>
              </a:rPr>
              <a:t>svod tayyor, ogohlantirish dars davomida.</a:t>
            </a:r>
          </a:p>
        </p:txBody>
      </p:sp>
      <p:pic>
        <p:nvPicPr>
          <p:cNvPr id="17" name="Picture 16" descr="03_tyutor_guruh.png"/>
          <p:cNvPicPr>
            <a:picLocks noChangeAspect="1"/>
          </p:cNvPicPr>
          <p:nvPr/>
        </p:nvPicPr>
        <p:blipFill>
          <a:blip r:embed="rId3"/>
          <a:srcRect r="26000" b="55700"/>
          <a:stretch>
            <a:fillRect/>
          </a:stretch>
        </p:blipFill>
        <p:spPr>
          <a:xfrm>
            <a:off x="6565392" y="3200400"/>
            <a:ext cx="4617720" cy="1727744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6565392" y="3200400"/>
            <a:ext cx="4617720" cy="1727744"/>
          </a:xfrm>
          <a:prstGeom prst="rect">
            <a:avLst/>
          </a:prstGeom>
          <a:noFill/>
          <a:ln w="12700">
            <a:solidFill>
              <a:srgbClr val="2A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833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O‘lchangan tizim vaqti:  </a:t>
            </a:r>
            <a:r>
              <a:rPr sz="1200" b="0">
                <a:solidFill>
                  <a:srgbClr val="9DB0DC"/>
                </a:solidFill>
                <a:latin typeface="Calibri"/>
              </a:rPr>
              <a:t>ariza yuborish 1.9 s · chek tasdiqlash 2.5 s · ariza tasdiqlash 3.6 s · agent javobi 0.5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2FD4A8"/>
                </a:solidFill>
                <a:latin typeface="Calibri"/>
              </a:rPr>
              <a:t>07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SaaS litsenziya — to‘lovchi OTM, talaba 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2FD4A8"/>
                </a:solidFill>
                <a:latin typeface="Calibri"/>
              </a:rPr>
              <a:t>$9 000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Yillik litsenziya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90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Platforma, 5 rol, 10 vosita, RAG qidiruvi, yangilanish va qo‘llab-quvvatlash.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83080"/>
            <a:ext cx="5349240" cy="178308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5B8CFF"/>
                </a:solidFill>
                <a:latin typeface="Calibri"/>
              </a:rPr>
              <a:t>$6 000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Bir martalik joriy etish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090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HEMIS/SSO, Click yoki Payme, turniket va E-IMZO integratsiyasi.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10908792" cy="960120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0507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$15 000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096512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9DB0DC"/>
                </a:solidFill>
                <a:latin typeface="Calibri"/>
              </a:rPr>
              <a:t>bitta OTM uchun birinchi yil qiymati — ikkinchi yildan $9 000 takrorlanuvchi.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37760"/>
            <a:ext cx="10908792" cy="82296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 w="12700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120640"/>
            <a:ext cx="10149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C24B"/>
                </a:solidFill>
                <a:latin typeface="Calibri"/>
              </a:rPr>
              <a:t>Narx — taxmin. </a:t>
            </a:r>
            <a:r>
              <a:rPr sz="1200" b="0">
                <a:solidFill>
                  <a:srgbClr val="9DB0DC"/>
                </a:solidFill>
                <a:latin typeface="Calibri"/>
              </a:rPr>
              <a:t>O‘zbekistonda universitet SaaS litsenziyasi bo‘yicha ochiq benchmark topilmadi; yakuniy narx pilot natijasi bilan aniqlanadi.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5B8CFF"/>
                </a:solidFill>
                <a:latin typeface="Calibri"/>
              </a:rPr>
              <a:t>08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Katta global to‘lqin — O‘zbekistondan boshlanadi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12344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56032" cy="256032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94767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5B8CFF"/>
                </a:solidFill>
                <a:latin typeface="Calibri"/>
              </a:rPr>
              <a:t>TAM  ·  </a:t>
            </a:r>
            <a:r>
              <a:rPr sz="2000" b="1">
                <a:solidFill>
                  <a:srgbClr val="FFFFFF"/>
                </a:solidFill>
                <a:latin typeface="Calibri"/>
              </a:rPr>
              <a:t>$8.3 mlrd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0487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DB0DC"/>
                </a:solidFill>
                <a:latin typeface="Calibri"/>
              </a:rPr>
              <a:t>Jahon bozori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167128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9DB0DC"/>
                </a:solidFill>
                <a:latin typeface="Calibri"/>
              </a:rPr>
              <a:t>«AI in education» (2025) → $57.2 mlrd (2033), CAGR 25.9%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10908792" cy="12344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593592"/>
            <a:ext cx="256032" cy="256032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36499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FD4A8"/>
                </a:solidFill>
                <a:latin typeface="Calibri"/>
              </a:rPr>
              <a:t>SAM  ·  </a:t>
            </a:r>
            <a:r>
              <a:rPr sz="2000" b="1">
                <a:solidFill>
                  <a:srgbClr val="FFFFFF"/>
                </a:solidFill>
                <a:latin typeface="Calibri"/>
              </a:rPr>
              <a:t>≈$3.1 mln / yil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221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DB0DC"/>
                </a:solidFill>
                <a:latin typeface="Calibri"/>
              </a:rPr>
              <a:t>O‘zbekiston OTMlari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584448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9DB0DC"/>
                </a:solidFill>
                <a:latin typeface="Calibri"/>
              </a:rPr>
              <a:t>208 OTM × $15 000 birinchi yil qiymati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908792" cy="12344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5010912"/>
            <a:ext cx="256032" cy="256032"/>
          </a:xfrm>
          <a:prstGeom prst="rect">
            <a:avLst/>
          </a:prstGeom>
          <a:solidFill>
            <a:srgbClr val="FFC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78231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C24B"/>
                </a:solidFill>
                <a:latin typeface="Calibri"/>
              </a:rPr>
              <a:t>SOM  ·  </a:t>
            </a:r>
            <a:r>
              <a:rPr sz="2000" b="1">
                <a:solidFill>
                  <a:srgbClr val="FFFFFF"/>
                </a:solidFill>
                <a:latin typeface="Calibri"/>
              </a:rPr>
              <a:t>≈$450 ming / yil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395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DB0DC"/>
                </a:solidFill>
                <a:latin typeface="Calibri"/>
              </a:rPr>
              <a:t>3 yillik maqsad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001768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9DB0DC"/>
                </a:solidFill>
                <a:latin typeface="Calibri"/>
              </a:rPr>
              <a:t>30 OTM (≈14%) — bitta pilot fakultetdan boshlab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D7EAC"/>
                </a:solidFill>
                <a:latin typeface="Calibri"/>
              </a:rPr>
              <a:t>Manba: Grand View Research, AI in Education Market (2026) · Oliy ta’lim vazirligi — 208 OTM (2025) · UniAgent narx taxmini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FFC24B"/>
                </a:solidFill>
                <a:latin typeface="Calibri"/>
              </a:rPr>
              <a:t>09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Hech bir muqobil beshta shartni birdan bajarmaydi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709928"/>
            <a:ext cx="1938527" cy="3803904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801368"/>
            <a:ext cx="1856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UniAgent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1032" y="1801368"/>
            <a:ext cx="1856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DB0DC"/>
                </a:solidFill>
                <a:latin typeface="Calibri"/>
              </a:rPr>
              <a:t>HEMIS / 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1801368"/>
            <a:ext cx="1856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DB0DC"/>
                </a:solidFill>
                <a:latin typeface="Calibri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3496" y="1801368"/>
            <a:ext cx="1856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DB0DC"/>
                </a:solidFill>
                <a:latin typeface="Calibri"/>
              </a:rPr>
              <a:t>Telegram-bot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10908792" cy="9525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Rol-asosli xavfsizlik (serverda)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402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22402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2402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3496" y="22402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C24B"/>
                </a:solidFill>
                <a:latin typeface="Calibri"/>
              </a:rPr>
              <a:t>Qisman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51760"/>
            <a:ext cx="10908792" cy="9525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9748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O‘z hujjatidan javob + manba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974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26974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26974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C24B"/>
                </a:solidFill>
                <a:latin typeface="Calibri"/>
              </a:rPr>
              <a:t>Qisman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3496" y="26974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08960"/>
            <a:ext cx="10908792" cy="9525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5468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AI agent — savol-javob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1546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2" y="31546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4" y="31546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6" y="31546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C24B"/>
                </a:solidFill>
                <a:latin typeface="Calibri"/>
              </a:rPr>
              <a:t>Qisman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566160"/>
            <a:ext cx="10908792" cy="9525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1188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O‘zbek tili (ko‘p tilli qidiruv)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6118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1032" y="36118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264" y="36118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C24B"/>
                </a:solidFill>
                <a:latin typeface="Calibri"/>
              </a:rPr>
              <a:t>Qisman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6118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023360"/>
            <a:ext cx="10908792" cy="9525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6908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Turniket / to‘lov integratsiyasi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0690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032" y="40690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C24B"/>
                </a:solidFill>
                <a:latin typeface="Calibri"/>
              </a:rPr>
              <a:t>Qisman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7264" y="40690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40690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80560"/>
            <a:ext cx="10908792" cy="9525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2628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Javobgarlik qoidalari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5262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71032" y="45262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D7EAC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7264" y="45262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83496" y="45262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937760"/>
            <a:ext cx="10908792" cy="9525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98348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Tizimda amal bajarish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9834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71032" y="49834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FD4A8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27264" y="49834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83496" y="4983480"/>
            <a:ext cx="185623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FC24B"/>
                </a:solidFill>
                <a:latin typeface="Calibri"/>
              </a:rPr>
              <a:t>Qisman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80644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D7EAC"/>
                </a:solidFill>
                <a:latin typeface="Calibri"/>
              </a:rPr>
              <a:t>«Javobgarlik qoidalari» = majburiy disclaimer, manba ko‘rsatish va xulosani fakt sifatida bermaslik — keys 9-bo‘limi talabi.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2FD4A8"/>
                </a:solidFill>
                <a:latin typeface="Calibri"/>
              </a:rPr>
              <a:t>10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Prototip emas — ishlaydigan tizim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3502152" cy="1298448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2FD4A8"/>
                </a:solidFill>
                <a:latin typeface="Calibri"/>
              </a:rPr>
              <a:t>281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avtomatik test — hammasi o‘tadi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81328"/>
            <a:ext cx="3502152" cy="1298448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27632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5B8CFF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677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AI vositasi · 5 rol · 9 modul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81328"/>
            <a:ext cx="3502152" cy="1298448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27632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C24B"/>
                </a:solidFill>
                <a:latin typeface="Calibri"/>
              </a:rPr>
              <a:t>25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677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DB0DC"/>
                </a:solidFill>
                <a:latin typeface="Calibri"/>
              </a:rPr>
              <a:t>o‘lchangan demo — 6 daqiqa budjetida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145536"/>
            <a:ext cx="100584" cy="10058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632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43 demo foydalanuvchi · 4 guruh · 2 fakultet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29584"/>
            <a:ext cx="100584" cy="10058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44728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10 hujjatli ko‘p tilli korpus (uz/ru/en) → 28 indekslangan bo‘lak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913632"/>
            <a:ext cx="100584" cy="10058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3133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RAG sifati: top-1 moslik 15/23 → 20/23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297680"/>
            <a:ext cx="100584" cy="10058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153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100% sintetik ma’lumot — keysning qat’iy talabi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681728"/>
            <a:ext cx="100584" cy="100584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59943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S0–S14: 15 sessiya, har biri DoD tekshiruvi bilan yopilgan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99923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100">
                <a:solidFill>
                  <a:srgbClr val="6D7EAC"/>
                </a:solidFill>
                <a:latin typeface="Calibri"/>
              </a:rPr>
              <a:t>ADMIN PANELI · jonli demo statistikasi</a:t>
            </a:r>
          </a:p>
        </p:txBody>
      </p:sp>
      <p:pic>
        <p:nvPicPr>
          <p:cNvPr id="25" name="Picture 24" descr="05_admin_statistika.png"/>
          <p:cNvPicPr>
            <a:picLocks noChangeAspect="1"/>
          </p:cNvPicPr>
          <p:nvPr/>
        </p:nvPicPr>
        <p:blipFill>
          <a:blip r:embed="rId2"/>
          <a:srcRect b="41000"/>
          <a:stretch>
            <a:fillRect/>
          </a:stretch>
        </p:blipFill>
        <p:spPr>
          <a:xfrm>
            <a:off x="6309360" y="3273552"/>
            <a:ext cx="5239512" cy="1932070"/>
          </a:xfrm>
          <a:prstGeom prst="rect">
            <a:avLst/>
          </a:prstGeom>
          <a:effectLst/>
        </p:spPr>
      </p:pic>
      <p:sp>
        <p:nvSpPr>
          <p:cNvPr id="26" name="Rectangle 25"/>
          <p:cNvSpPr/>
          <p:nvPr/>
        </p:nvSpPr>
        <p:spPr>
          <a:xfrm>
            <a:off x="6309360" y="3273552"/>
            <a:ext cx="5239512" cy="1932070"/>
          </a:xfrm>
          <a:prstGeom prst="rect">
            <a:avLst/>
          </a:prstGeom>
          <a:noFill/>
          <a:ln w="12700">
            <a:solidFill>
              <a:srgbClr val="2A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532120"/>
            <a:ext cx="10908792" cy="566928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69671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Keys talablari:  </a:t>
            </a:r>
            <a:r>
              <a:rPr sz="1200" b="0">
                <a:solidFill>
                  <a:srgbClr val="2FD4A8"/>
                </a:solidFill>
                <a:latin typeface="Calibri"/>
              </a:rPr>
              <a:t>rolga mos agent ✓ · summarizatsiya ✓ · axborot qidirish ✓ · kontekstga mos javob ✓ · qulay interfeys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5B8CFF"/>
                </a:solidFill>
                <a:latin typeface="Calibri"/>
              </a:rPr>
              <a:t>11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Pilotdan universitetgacha — uch bosqich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02152" cy="23774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502152" cy="68580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spc="120">
                <a:solidFill>
                  <a:srgbClr val="2FD4A8"/>
                </a:solidFill>
                <a:latin typeface="Calibri"/>
              </a:rPr>
              <a:t>1-oy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8716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Pilot fakultet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Real hujjat korpusi, HEMIS/SSO sinxronizatsiyasi, foydalanish statistikasi.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02152" cy="23774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502152" cy="6858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spc="120">
                <a:solidFill>
                  <a:srgbClr val="5B8CFF"/>
                </a:solidFill>
                <a:latin typeface="Calibri"/>
              </a:rPr>
              <a:t>2-oy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8716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Integratsiya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Click yoki Payme webhook, real turniket, PostgreSQL + boshqariladigan vektor baza.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502152" cy="23774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783080"/>
            <a:ext cx="3502152" cy="68580"/>
          </a:xfrm>
          <a:prstGeom prst="rect">
            <a:avLst/>
          </a:prstGeom>
          <a:solidFill>
            <a:srgbClr val="FFC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21031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spc="120">
                <a:solidFill>
                  <a:srgbClr val="FFC24B"/>
                </a:solidFill>
                <a:latin typeface="Calibri"/>
              </a:rPr>
              <a:t>3–6 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248716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Butun universitet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30175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E-IMZO bilan rasmiy hujjat aylanmasi, push va Telegram bildirishnoma kanali.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10908792" cy="868680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6344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Keyin: </a:t>
            </a:r>
            <a:r>
              <a:rPr sz="1600" b="1">
                <a:solidFill>
                  <a:srgbClr val="2FD4A8"/>
                </a:solidFill>
                <a:latin typeface="Calibri"/>
              </a:rPr>
              <a:t>2-yil — 10 OTM  ·  3-yil — 30 OTM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D7EAC"/>
                </a:solidFill>
                <a:latin typeface="Calibri"/>
              </a:rPr>
              <a:t>Har bosqich mavjud kod ustiga quriladi: modellar, endpointlar va RBAC o‘zgarmaydi — seed generatori o‘rniga integratsiya adapteri qo‘yiladi.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FF6B6B"/>
                </a:solidFill>
                <a:latin typeface="Calibri"/>
              </a:rPr>
              <a:t>12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Bitta pilot fakultet — bir oyda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720840" cy="3749039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7" y="2203703"/>
            <a:ext cx="182880" cy="182880"/>
          </a:xfrm>
          <a:prstGeom prst="rect">
            <a:avLst/>
          </a:prstGeom>
          <a:solidFill>
            <a:srgbClr val="2F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84831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G‘alaba — EdTech treki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7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NEXUS30 finalida, hamkor Yandex bilan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7" y="3044951"/>
            <a:ext cx="182880" cy="18288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926079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Pilot universitet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36975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Bitta fakultet, 1 oy, real hujjat korpusi bilan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7" y="3886200"/>
            <a:ext cx="182880" cy="182880"/>
          </a:xfrm>
          <a:prstGeom prst="rect">
            <a:avLst/>
          </a:prstGeom>
          <a:solidFill>
            <a:srgbClr val="FFC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76732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Yandex model resursi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llm/client.py da bitta klass — qolgan kod o‘zgarmaydi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7" y="4727448"/>
            <a:ext cx="182880" cy="1828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608576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Mentorlik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91947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B0DC"/>
                </a:solidFill>
                <a:latin typeface="Calibri"/>
              </a:rPr>
              <a:t>HEMIS integratsiyasi va ma’lumot maxfiyligi bo‘yicha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54112" y="1783080"/>
            <a:ext cx="3794760" cy="3749039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24688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 fakultet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31089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2FD4A8"/>
                </a:solidFill>
                <a:latin typeface="Calibri"/>
              </a:rPr>
              <a:t>1 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3886200"/>
            <a:ext cx="3063240" cy="9525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416052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Pilotdan chiqadigan natija: real foydalanish statistikasi, aniq litsenziya narxi va birinchi referens OTM.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D7EAC"/>
                </a:solidFill>
                <a:latin typeface="Calibri"/>
              </a:rPr>
              <a:t>Tizim bugun to‘liq ishlaydi — pilot uchun yozilishi kerak bo‘lgan yangi modul yo‘q, faqat integratsiya adapterlari.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160">
                <a:solidFill>
                  <a:srgbClr val="2FD4A8"/>
                </a:solidFill>
                <a:latin typeface="Calibri"/>
              </a:rPr>
              <a:t>13 — </a:t>
            </a:r>
            <a:r>
              <a:rPr sz="1200" b="1" spc="160">
                <a:solidFill>
                  <a:srgbClr val="9DB0DC"/>
                </a:solidFill>
                <a:latin typeface="Calibri"/>
              </a:rPr>
              <a:t>JAMOA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Jamoa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720840" cy="301752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50592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B1020"/>
                </a:solidFill>
                <a:latin typeface="Calibri"/>
              </a:rPr>
              <a:t>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1284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Mannonov Sarabek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7004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8CFF"/>
                </a:solidFill>
                <a:latin typeface="Calibri"/>
              </a:rPr>
              <a:t>Full-stack + AI · loyihaning yagona muallifi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9DB0DC"/>
                </a:solidFill>
                <a:latin typeface="Calibri"/>
              </a:rPr>
              <a:t>Backend (FastAPI, RBAC, RAG quvuri, agent registri), frontend (Next.js 16), 281 test — 15 sessiyada, har biri DoD tekshiruvi bilan yopilgan.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1783080"/>
            <a:ext cx="3794760" cy="3017520"/>
          </a:xfrm>
          <a:prstGeom prst="roundRect">
            <a:avLst>
              <a:gd name="adj" fmla="val 4500"/>
            </a:avLst>
          </a:prstGeom>
          <a:solidFill>
            <a:srgbClr val="1B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21031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140">
                <a:solidFill>
                  <a:srgbClr val="6D7EAC"/>
                </a:solidFill>
                <a:latin typeface="Calibri"/>
              </a:rPr>
              <a:t>NEGA BU MUHIM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251460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9DB0DC"/>
                </a:solidFill>
                <a:latin typeface="Calibri"/>
              </a:rPr>
              <a:t>Jamoa bir kishilik — shuning uchun arxitektura qoidalari qat’iy: RBAC bitta joyda, LLM chaqiruvi bitta modul orqali, biznes logika services’da. Yangi odam kirsa ham qoida buzilmaydi.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10908792" cy="777240"/>
          </a:xfrm>
          <a:prstGeom prst="roundRect">
            <a:avLst>
              <a:gd name="adj" fmla="val 45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3035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9DB0DC"/>
                </a:solidFill>
                <a:latin typeface="Calibri"/>
              </a:rPr>
              <a:t>UniAgent  ·  NEXUS30 EdTech  ·  Mannonov Sarabek  ·  Avgust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UNIAGENT · NEXUS30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spc="120">
                <a:solidFill>
                  <a:srgbClr val="6D7EAC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